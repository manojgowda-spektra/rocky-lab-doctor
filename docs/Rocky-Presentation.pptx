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Rocky — a quality team that never sleeps, watching over our hands-on cloud labs. In a few minutes: the problem, and the real results it has already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a learner at 2 a.m. doing exactly what the guide says, and it fails. They assume it's their fault and give up — and nobody on our side hears about it. That silent failure is what Rocky catches.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Rocky does is one of three jobs: Find, Fix, Help. It's one system wearing different hats for each. Hold those three words and the rest is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job: finding problems, by reading our guides and watching real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Doctor is a health inspector who checks every kitchen before anyone gets sick. Rocky read eight real repositories and found 133 genuine problems — and three came back perfectly clean. When a lab is fine, it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that sticks. Our English guide auto-fills each learner's real login. In the Japanese translation those slots were dropped, so the learner is told to type 'RTI_username' word-for-word. Of course it fails. Rocky caught this plus 16 more — real, on a real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Watcher only beeps when something actually changes. Upfront: this timeline is a safe simulation so we prove the logic before live data. The recovery-detection is real; the timeline it ran on is the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remember one number, make it this. 133 real problems across eight repositories — verifiable on GitHub, not hypotheticals.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job: fixing them, and doing it safely, so nothing changes without a person signing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smart foreman with a job board. Instead of 133 random tickets, thirteen campaigns — the top three cover 62%. Five became real GitHub pull requests; two are already merged by a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appeals court. Sometimes a learner failed because the lab was broken, not them. Rocky can restore results — but only after five checks and a named sign-off. Try it with no name: it refuses outright. That refusal is real; we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proofs. We planted a bug in a real repo — the safety gate blocked it in four seconds. And we hand-checked 42 findings: zero false alarms. When Rocky flags something, trust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job: helping the learner right when they're stuck, and helping support cut through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smart complaints desk. Support drowns in tickets that are secretly the same problem. Rocky groups them so the team fixes the cause once instead of answering 74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Companion sits with the learner. The obvious guess — 'pick a smaller machine' — is wrong and wastes an hour. Rocky refuses it and points to the real cause: wrong region. And if unsure, it says 'I don't know'. The chat voice is off today; it shows an evidence card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Completely straight about what's real: the problems, repos, pull requests, gate, forecasts — all verifiable. The dashboard, support and appeals figures, and Priya's story are a labeled twin. Our rule: the engine states facts, the AI narrates, and we never fake a green checkmark.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Rocky in one line: the reliability layer for our labs. It finds, fixes with a human's sign-off, and helps — and earns trust the hard way. The engine asserts, the AI narrates.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01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5400" b="0" i="0">
                <a:solidFill>
                  <a:srgbClr val="0C7A68"/>
                </a:solidFill>
                <a:latin typeface="Segoe UI"/>
              </a:rPr>
              <a:t>🤖</a:t>
            </a:r>
          </a:p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0C7A68"/>
                </a:solidFill>
                <a:latin typeface="Consolas"/>
              </a:rPr>
              <a:t>COMPANY BRIEFING</a:t>
            </a:r>
          </a:p>
          <a:p>
            <a:pPr algn="ctr">
              <a:lnSpc>
                <a:spcPct val="102000"/>
              </a:lnSpc>
              <a:spcAft>
                <a:spcPts val="1400"/>
              </a:spcAft>
            </a:pPr>
            <a:r>
              <a:rPr sz="6000" b="1" i="0">
                <a:solidFill>
                  <a:srgbClr val="13201C"/>
                </a:solidFill>
                <a:latin typeface="Segoe UI"/>
              </a:rPr>
              <a:t>Rocky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54665F"/>
                </a:solidFill>
                <a:latin typeface="Segoe UI"/>
              </a:rPr>
              <a:t>The reliability layer for hands-on cloud labs.  One engine · several hats · three jobs.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4000" b="1" i="0">
                <a:solidFill>
                  <a:srgbClr val="13201C"/>
                </a:solidFill>
                <a:latin typeface="Segoe UI"/>
              </a:rPr>
              <a:t>It's 2 a.m. The lab is broken. The learner blames themselves — and quits.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 b="0" i="0">
                <a:solidFill>
                  <a:srgbClr val="54665F"/>
                </a:solidFill>
                <a:latin typeface="Segoe UI"/>
              </a:rPr>
              <a:t>We only find out later, from support tickets. The guide stays broken for the next person too.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13201C"/>
                </a:solidFill>
                <a:latin typeface="Segoe UI"/>
              </a:rPr>
              <a:t>One Rocky. Three simple jobs.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26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0C7A68"/>
                </a:solidFill>
                <a:latin typeface="Consolas"/>
              </a:rPr>
              <a:t>01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13201C"/>
                </a:solidFill>
                <a:latin typeface="Segoe UI"/>
              </a:rPr>
              <a:t>Find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4665F"/>
                </a:solidFill>
                <a:latin typeface="Segoe UI"/>
              </a:rPr>
              <a:t>Read every guide and watch every result to catch what's broken.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2468880"/>
            <a:ext cx="3261360" cy="0"/>
          </a:xfrm>
          <a:prstGeom prst="bentConnector3">
            <a:avLst/>
          </a:prstGeom>
          <a:ln w="38100">
            <a:solidFill>
              <a:srgbClr val="0C7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50080" y="2468880"/>
            <a:ext cx="326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0C7A68"/>
                </a:solidFill>
                <a:latin typeface="Consolas"/>
              </a:rPr>
              <a:t>02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13201C"/>
                </a:solidFill>
                <a:latin typeface="Segoe UI"/>
              </a:rPr>
              <a:t>Fix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4665F"/>
                </a:solidFill>
                <a:latin typeface="Segoe UI"/>
              </a:rPr>
              <a:t>Draft the repair, a human approves, prove it worked, block it from returning.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50080" y="2468880"/>
            <a:ext cx="3261360" cy="0"/>
          </a:xfrm>
          <a:prstGeom prst="bentConnector3">
            <a:avLst/>
          </a:prstGeom>
          <a:ln w="38100">
            <a:solidFill>
              <a:srgbClr val="0C7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77199" y="2468880"/>
            <a:ext cx="326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 bIns="182880"/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i="0">
                <a:solidFill>
                  <a:srgbClr val="0C7A68"/>
                </a:solidFill>
                <a:latin typeface="Consolas"/>
              </a:rPr>
              <a:t>03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2600" b="1" i="0">
                <a:solidFill>
                  <a:srgbClr val="13201C"/>
                </a:solidFill>
                <a:latin typeface="Segoe UI"/>
              </a:rPr>
              <a:t>Help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54665F"/>
                </a:solidFill>
                <a:latin typeface="Segoe UI"/>
              </a:rPr>
              <a:t>Stand with the learner in the moment — answers from evidence, never guesses.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77199" y="2468880"/>
            <a:ext cx="3261360" cy="0"/>
          </a:xfrm>
          <a:prstGeom prst="bentConnector3">
            <a:avLst/>
          </a:prstGeom>
          <a:ln w="38100">
            <a:solidFill>
              <a:srgbClr val="0C7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JOB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0C7A68"/>
                </a:solidFill>
                <a:latin typeface="Consolas"/>
              </a:rPr>
              <a:t>JOB 1 OF 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8400" b="1" i="0">
                <a:solidFill>
                  <a:srgbClr val="0C7A68"/>
                </a:solidFill>
                <a:latin typeface="Segoe UI"/>
              </a:rPr>
              <a:t>Find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54665F"/>
                </a:solidFill>
                <a:latin typeface="Segoe UI"/>
              </a:rPr>
              <a:t>Catch what's broken before a learner does.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05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 w="9525">
            <a:solidFill>
              <a:srgbClr val="0C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0C7A68"/>
                </a:solidFill>
                <a:latin typeface="Consolas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🩺  </a:t>
            </a:r>
            <a:r>
              <a:rPr sz="3200" b="1">
                <a:solidFill>
                  <a:srgbClr val="13201C"/>
                </a:solidFill>
                <a:latin typeface="Segoe UI"/>
              </a:rPr>
              <a:t>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health inspector who checks every kitchen against the rulebook — instead of waiting for someone to get sick.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133 real problems found across 8 live lab repos — and 3 came back completely clean.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It diagnoses each lab, and says plainly when a lab is actually fine. It doesn't cry wolf.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06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 w="9525">
            <a:solidFill>
              <a:srgbClr val="0C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0C7A68"/>
                </a:solidFill>
                <a:latin typeface="Consolas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📄  </a:t>
            </a:r>
            <a:r>
              <a:rPr sz="3200" b="1">
                <a:solidFill>
                  <a:srgbClr val="13201C"/>
                </a:solidFill>
                <a:latin typeface="Segoe UI"/>
              </a:rPr>
              <a:t>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recipe translated into another language where the blank for 'your name here' was left as the literal words — so people type them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In the Japanese guide, every login-detail slot was missing — so learners are told to type the placeholder “RTI_username” as their username.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16 of these lost-in-translation credential problems found — the step just fails, and the learner has no idea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07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 w="952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3A6EA5"/>
                </a:solidFill>
                <a:latin typeface="Consolas"/>
              </a:rPr>
              <a:t>SIMULATED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📡  </a:t>
            </a:r>
            <a:r>
              <a:rPr sz="3200" b="1">
                <a:solidFill>
                  <a:srgbClr val="13201C"/>
                </a:solidFill>
                <a:latin typeface="Segoe UI"/>
              </a:rPr>
              <a:t>Watcher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good security camera that doesn't blare every time the fridge hums — it alerts only when something changes, and tells you when it's 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A silent break was caught the moment it appeared, one outage folded into 1 alert across 4 labs, and recovery was detected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Shown on a safe practice timeline (a digital twin) — the detection logic is real; we prove it before pointing it at live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08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 w="9525">
            <a:solidFill>
              <a:srgbClr val="0C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0C7A68"/>
                </a:solidFill>
                <a:latin typeface="Consolas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0" b="1" i="0">
                <a:solidFill>
                  <a:srgbClr val="0C7A68"/>
                </a:solidFill>
                <a:latin typeface="Consolas"/>
              </a:rPr>
              <a:t>133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0" i="0">
                <a:solidFill>
                  <a:srgbClr val="54665F"/>
                </a:solidFill>
                <a:latin typeface="Segoe UI"/>
              </a:rPr>
              <a:t>real problems found in guides our learners use right now — verified, not guessed.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JOB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09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0C7A68"/>
                </a:solidFill>
                <a:latin typeface="Consolas"/>
              </a:rPr>
              <a:t>JOB 2 OF 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8400" b="1" i="0">
                <a:solidFill>
                  <a:srgbClr val="0C7A68"/>
                </a:solidFill>
                <a:latin typeface="Segoe UI"/>
              </a:rPr>
              <a:t>Fix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54665F"/>
                </a:solidFill>
                <a:latin typeface="Segoe UI"/>
              </a:rPr>
              <a:t>Repair it safely — a human always approves.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10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5EEDD"/>
          </a:solidFill>
          <a:ln w="9525">
            <a:solidFill>
              <a:srgbClr val="9A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9A6B00"/>
                </a:solidFill>
                <a:latin typeface="Consolas"/>
              </a:rPr>
              <a:t>MIXED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🛠️  </a:t>
            </a:r>
            <a:r>
              <a:rPr sz="3200" b="1">
                <a:solidFill>
                  <a:srgbClr val="13201C"/>
                </a:solidFill>
                <a:latin typeface="Segoe UI"/>
              </a:rPr>
              <a:t>Fixer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foreman who gets a hundred tickets and groups them by root cause, so one fix closes dozens at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133 findings grouped into 13 fix campaigns. 5 real pull requests opened; 2 already merged by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The grouping view is from our practice environment; the pull requests on GitHub are completely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11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5EEDD"/>
          </a:solidFill>
          <a:ln w="9525">
            <a:solidFill>
              <a:srgbClr val="9A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9A6B00"/>
                </a:solidFill>
                <a:latin typeface="Consolas"/>
              </a:rPr>
              <a:t>MIXED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⚖️  </a:t>
            </a:r>
            <a:r>
              <a:rPr sz="3200" b="1">
                <a:solidFill>
                  <a:srgbClr val="13201C"/>
                </a:solidFill>
                <a:latin typeface="Segoe UI"/>
              </a:rPr>
              <a:t>Guardian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an appeals court for a student wrongly failed by a glitchy grader — the verdict can be overturned, but only a named judge signs the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It restores wrongly-failed learners — but with no human name attached, it refuses outright, returning an error rather than quietly change a grade.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Only after 5 strict checks and a named person authorizing it. In review, 8 learners qualified and 2 were correctly turned 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12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 w="9525">
            <a:solidFill>
              <a:srgbClr val="0C7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0C7A68"/>
                </a:solidFill>
                <a:latin typeface="Consolas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0060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9600" b="1" i="0">
                <a:solidFill>
                  <a:srgbClr val="0C7A68"/>
                </a:solidFill>
                <a:latin typeface="Consolas"/>
              </a:rPr>
              <a:t>4 sec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54665F"/>
                </a:solidFill>
                <a:latin typeface="Segoe UI"/>
              </a:rPr>
              <a:t>to automatically block a planted bug from ever merging back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80060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9600" b="1" i="0">
                <a:solidFill>
                  <a:srgbClr val="0C7A68"/>
                </a:solidFill>
                <a:latin typeface="Consolas"/>
              </a:rPr>
              <a:t>0 / 42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900" b="0" i="0">
                <a:solidFill>
                  <a:srgbClr val="54665F"/>
                </a:solidFill>
                <a:latin typeface="Segoe UI"/>
              </a:rPr>
              <a:t>false alarms in a hand-audited sample of Rocky's findings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JOB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0" i="0">
                <a:solidFill>
                  <a:srgbClr val="0C7A68"/>
                </a:solidFill>
                <a:latin typeface="Consolas"/>
              </a:rPr>
              <a:t>JOB 3 OF 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8400" b="1" i="0">
                <a:solidFill>
                  <a:srgbClr val="0C7A68"/>
                </a:solidFill>
                <a:latin typeface="Segoe UI"/>
              </a:rPr>
              <a:t>Help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54665F"/>
                </a:solidFill>
                <a:latin typeface="Segoe UI"/>
              </a:rPr>
              <a:t>Stand beside the learner in the moment.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14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 w="952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3A6EA5"/>
                </a:solidFill>
                <a:latin typeface="Consolas"/>
              </a:rPr>
              <a:t>SIMULATED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🎧  </a:t>
            </a:r>
            <a:r>
              <a:rPr sz="3200" b="1">
                <a:solidFill>
                  <a:srgbClr val="13201C"/>
                </a:solidFill>
                <a:latin typeface="Segoe UI"/>
              </a:rPr>
              <a:t>Listener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complaints desk buried under tickets that are really the same few problems, described a hundred 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74 support tickets collapsed into 24 real incidents — so the team fixes causes, not symptoms.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Roughly a 3-to-1 cut in the noise. Shown on simulated tickets for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15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7EEF6"/>
          </a:solidFill>
          <a:ln w="9525">
            <a:solidFill>
              <a:srgbClr val="3A6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3A6EA5"/>
                </a:solidFill>
                <a:latin typeface="Consolas"/>
              </a:rPr>
              <a:t>SIMULATED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/>
              <a:t>💬  </a:t>
            </a:r>
            <a:r>
              <a:rPr sz="3200" b="1">
                <a:solidFill>
                  <a:srgbClr val="13201C"/>
                </a:solidFill>
                <a:latin typeface="Segoe UI"/>
              </a:rPr>
              <a:t>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0" i="1">
                <a:solidFill>
                  <a:srgbClr val="54665F"/>
                </a:solidFill>
                <a:latin typeface="Segoe UI"/>
              </a:rPr>
              <a:t>Like a waiter who won't let you order the dish that'll make you sick — Priya, stuck at 2 a.m., is about to try the tempting wrong fix.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2700" b="1" i="0">
                <a:solidFill>
                  <a:srgbClr val="13201C"/>
                </a:solidFill>
                <a:latin typeface="Segoe UI"/>
              </a:rPr>
              <a:t>Rocky refuses the shortcut and names the real cause — the wrong region. When it can't verify, it says “I don't know” rather than guess.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 i="0">
                <a:solidFill>
                  <a:srgbClr val="8FA39C"/>
                </a:solidFill>
                <a:latin typeface="Segoe UI"/>
              </a:rPr>
              <a:t>The live chat voice is off today (new model pending), so it answers with a plain evidence card — by design, it degrades gracefully instead of bluffing.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6775" y="32918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16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6" y="616305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5EEDD"/>
          </a:solidFill>
          <a:ln w="9525">
            <a:solidFill>
              <a:srgbClr val="9A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00" b="1">
                <a:solidFill>
                  <a:srgbClr val="9A6B00"/>
                </a:solidFill>
                <a:latin typeface="Consolas"/>
              </a:rPr>
              <a:t>MIXED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400" b="1" i="0">
                <a:solidFill>
                  <a:srgbClr val="13201C"/>
                </a:solidFill>
                <a:latin typeface="Segoe UI"/>
              </a:rPr>
              <a:t>What's real today — and what's a safe practice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5029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0C7A68"/>
                </a:solidFill>
                <a:latin typeface="Consolas"/>
              </a:rPr>
              <a:t>REAL TODAY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133 defects · 8 repositories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5 pull requests (2 merged)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4-second safety gate; 0-in-42 false alarms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Live end-of-life forecasts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286000"/>
            <a:ext cx="5029200" cy="0"/>
          </a:xfrm>
          <a:prstGeom prst="bentConnector3">
            <a:avLst/>
          </a:prstGeom>
          <a:ln w="38100">
            <a:solidFill>
              <a:srgbClr val="0C7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9360" y="2286000"/>
            <a:ext cx="5029200" cy="3200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56032" bIns="182880"/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1" i="0">
                <a:solidFill>
                  <a:srgbClr val="3A6EA5"/>
                </a:solidFill>
                <a:latin typeface="Consolas"/>
              </a:rPr>
              <a:t>SIMULATED (LABELED)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The live fleet dashboard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Support &amp; appeals numbers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The 2 a.m. Priya story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 i="0">
                <a:solidFill>
                  <a:srgbClr val="13201C"/>
                </a:solidFill>
                <a:latin typeface="Segoe UI"/>
              </a:rPr>
              <a:t>•  (A digital twin — proves the logic without touching real learners)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09360" y="2286000"/>
            <a:ext cx="5029200" cy="0"/>
          </a:xfrm>
          <a:prstGeom prst="bentConnector3">
            <a:avLst/>
          </a:prstGeom>
          <a:ln w="38100">
            <a:solidFill>
              <a:srgbClr val="3A6E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3201C"/>
                </a:solidFill>
                <a:latin typeface="Segoe UI"/>
              </a:rPr>
              <a:t>Rocky</a:t>
            </a:r>
            <a:r>
              <a:rPr sz="1500" b="1">
                <a:solidFill>
                  <a:srgbClr val="0C7A68"/>
                </a:solidFill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91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FA39C"/>
                </a:solidFill>
                <a:latin typeface="Consolas"/>
              </a:rPr>
              <a:t>17 /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5400" b="0" i="0">
                <a:solidFill>
                  <a:srgbClr val="0C7A68"/>
                </a:solidFill>
                <a:latin typeface="Segoe UI"/>
              </a:rPr>
              <a:t>🤖</a:t>
            </a:r>
          </a:p>
          <a:p>
            <a:pPr algn="ctr">
              <a:lnSpc>
                <a:spcPct val="102000"/>
              </a:lnSpc>
              <a:spcAft>
                <a:spcPts val="1400"/>
              </a:spcAft>
            </a:pPr>
            <a:r>
              <a:rPr sz="4200" b="1" i="0">
                <a:solidFill>
                  <a:srgbClr val="13201C"/>
                </a:solidFill>
                <a:latin typeface="Segoe UI"/>
              </a:rPr>
              <a:t>We never fake green.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2000" b="0" i="0">
                <a:solidFill>
                  <a:srgbClr val="54665F"/>
                </a:solidFill>
                <a:latin typeface="Segoe UI"/>
              </a:rPr>
              <a:t>Rocky finds what's broken, fixes it with a human's approval, and helps the learner in the meantime.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